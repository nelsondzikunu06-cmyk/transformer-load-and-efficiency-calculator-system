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383280" cy="6858000"/>
          </a:xfrm>
          <a:prstGeom prst="rect">
            <a:avLst/>
          </a:prstGeom>
          <a:solidFill>
            <a:srgbClr val="1B4965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1097280"/>
            <a:ext cx="2926080" cy="2926080"/>
          </a:xfrm>
          <a:prstGeom prst="ellipse">
            <a:avLst/>
          </a:prstGeom>
          <a:solidFill>
            <a:srgbClr val="F4A30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023360"/>
            <a:ext cx="1828800" cy="1828800"/>
          </a:xfrm>
          <a:prstGeom prst="ellipse">
            <a:avLst/>
          </a:prstGeom>
          <a:solidFill>
            <a:srgbClr val="F4A30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548640"/>
            <a:ext cx="822960" cy="8229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6" name="Image 0" descr="/home/claude/project/icons/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7461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C++ PROGRAMMING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269748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Load and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Calculator System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Mid-Semester Practical Project Examination — Project Question 13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4983480"/>
            <a:ext cx="2743200" cy="0"/>
          </a:xfrm>
          <a:prstGeom prst="line">
            <a:avLst/>
          </a:prstGeom>
          <a:noFill/>
          <a:ln w="25400">
            <a:solidFill>
              <a:srgbClr val="F4A3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1663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Electrical/Electronic Engineering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 — Faculty of Engineering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Douglas Ayitey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263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Number: _____      Presented by: Group Members (see report.md)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console application that records transformer details, accepts multiple connected loads, calculates total demand, and reports whether the transformer is operating safely.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2697480"/>
            <a:ext cx="640080" cy="64008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6" name="Image 0" descr="/home/claude/project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459" y="28510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Details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65760" y="3840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name, rating, voltages and power factor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97480" y="2697480"/>
            <a:ext cx="640080" cy="64008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0" name="Image 1" descr="/home/claude/project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099" y="28510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312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Loads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2057400" y="3840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connected load types via a looped input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89120" y="2697480"/>
            <a:ext cx="640080" cy="64008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4" name="Image 2" descr="/home/claude/project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739" y="2851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9476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Demand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749040" y="3840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load, apparent load (kVA) and loading %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080760" y="2697480"/>
            <a:ext cx="640080" cy="64008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8" name="Image 3" descr="/home/claude/project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379" y="285109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Safely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5440680" y="384048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status and warns of overload risk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7315200" y="1371600"/>
            <a:ext cx="4297680" cy="4434840"/>
          </a:xfrm>
          <a:prstGeom prst="rect">
            <a:avLst>
              <a:gd name="adj" fmla="val 1702"/>
            </a:avLst>
          </a:prstGeom>
          <a:solidFill>
            <a:srgbClr val="0F2340"/>
          </a:solidFill>
          <a:ln/>
        </p:spPr>
      </p:sp>
      <p:sp>
        <p:nvSpPr>
          <p:cNvPr id="22" name="Text 16"/>
          <p:cNvSpPr/>
          <p:nvPr/>
        </p:nvSpPr>
        <p:spPr>
          <a:xfrm>
            <a:off x="7635240" y="1600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63524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overloaded transformer can: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7635240" y="242316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5" name="Text 19"/>
          <p:cNvSpPr/>
          <p:nvPr/>
        </p:nvSpPr>
        <p:spPr>
          <a:xfrm>
            <a:off x="7863840" y="231343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Overheat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7635240" y="292608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7" name="Text 21"/>
          <p:cNvSpPr/>
          <p:nvPr/>
        </p:nvSpPr>
        <p:spPr>
          <a:xfrm>
            <a:off x="7863840" y="281635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efficiency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7635240" y="342900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9" name="Text 23"/>
          <p:cNvSpPr/>
          <p:nvPr/>
        </p:nvSpPr>
        <p:spPr>
          <a:xfrm>
            <a:off x="7863840" y="33192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protection devices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7635240" y="3931920"/>
            <a:ext cx="109728" cy="10972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1" name="Text 25"/>
          <p:cNvSpPr/>
          <p:nvPr/>
        </p:nvSpPr>
        <p:spPr>
          <a:xfrm>
            <a:off x="7863840" y="38221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Suffer permanent damage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7635240" y="4617720"/>
            <a:ext cx="3657600" cy="0"/>
          </a:xfrm>
          <a:prstGeom prst="line">
            <a:avLst/>
          </a:prstGeom>
          <a:noFill/>
          <a:ln w="12700">
            <a:solidFill>
              <a:srgbClr val="1B4965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635240" y="48006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gives users an immediate, calculated answer — instead of a guess.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Being Solved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users often connect several loads to a transformer without calculating the total demand this places on it — making it difficult to know its true operating condition.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035040" cy="3108960"/>
          </a:xfrm>
          <a:prstGeom prst="roundRect">
            <a:avLst>
              <a:gd name="adj" fmla="val 1765"/>
            </a:avLst>
          </a:prstGeom>
          <a:solidFill>
            <a:srgbClr val="1B4965">
              <a:alpha val="75000"/>
            </a:srgbClr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200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calculation tool, users cannot tell if a transformer is: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5844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Underloaded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1330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normally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80060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68172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full capacity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5349240"/>
            <a:ext cx="128016" cy="128016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52303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Dangerously overloaded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2103120"/>
            <a:ext cx="1828800" cy="1828800"/>
          </a:xfrm>
          <a:prstGeom prst="ellipse">
            <a:avLst/>
          </a:prstGeom>
          <a:solidFill>
            <a:srgbClr val="3A2410"/>
          </a:solidFill>
          <a:ln/>
        </p:spPr>
      </p:sp>
      <p:pic>
        <p:nvPicPr>
          <p:cNvPr id="16" name="Image 0" descr="/home/claude/projec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2" y="2542032"/>
            <a:ext cx="950976" cy="95097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949440" y="4160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 for a Simple,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Tool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040880" y="49834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delivers a lightweight C++ programme that removes the guesswork and gives an immediate, calculated load status.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and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960120"/>
          </a:xfrm>
          <a:prstGeom prst="roundRect">
            <a:avLst>
              <a:gd name="adj" fmla="val 5714"/>
            </a:avLst>
          </a:prstGeom>
          <a:solidFill>
            <a:srgbClr val="0F2340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6" name="Image 0" descr="/home/claude/project/icons/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4284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5448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C++ Transformer Load and Efficiency Calculator System that estimates a transformer's loading condition and clearly reports whether it is operating safely.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267919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input, processing, and output requirements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520440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51560" y="345643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 algorithm for the calculator application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297680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51560" y="423367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pseudocode for the application logic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51560" y="501091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flowchart for the calculation process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5852160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5852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51560" y="578815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working programme using functions &amp; classes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2743200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766560" y="267919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loops to accept multiple connected loads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6263640" y="3520440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7" name="Text 24"/>
          <p:cNvSpPr/>
          <p:nvPr/>
        </p:nvSpPr>
        <p:spPr>
          <a:xfrm>
            <a:off x="626364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766560" y="345643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conditionals to classify transformer load status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263640" y="4297680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0" name="Text 27"/>
          <p:cNvSpPr/>
          <p:nvPr/>
        </p:nvSpPr>
        <p:spPr>
          <a:xfrm>
            <a:off x="626364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766560" y="423367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total load, apparent load &amp; loading %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63640" y="5074920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3" name="Text 30"/>
          <p:cNvSpPr/>
          <p:nvPr/>
        </p:nvSpPr>
        <p:spPr>
          <a:xfrm>
            <a:off x="6263640" y="5074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766560" y="501091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load report into a text file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263640" y="5852160"/>
            <a:ext cx="365760" cy="36576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36" name="Text 33"/>
          <p:cNvSpPr/>
          <p:nvPr/>
        </p:nvSpPr>
        <p:spPr>
          <a:xfrm>
            <a:off x="6263640" y="5852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766560" y="5788152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project using Markdown via GitHub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Features of the Application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6" name="Image 0" descr="/home/claude/project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8690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37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Details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name, rated kVA, primary &amp; secondary voltage, and power factor.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737360"/>
            <a:ext cx="548640" cy="54864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1" name="Image 1" descr="/home/claude/project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54" y="18690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737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Loads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4231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to accept any number of connected load types with name, rating &amp; quantity.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737360"/>
            <a:ext cx="548640" cy="54864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6" name="Image 2" descr="/home/claude/project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994" y="18690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7373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42316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negative or non-numeric values and re-prompts the user automatically.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65760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886200"/>
            <a:ext cx="548640" cy="54864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21" name="Image 3" descr="/home/claude/project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0178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Calculations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45720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load power, total load, apparent load (kVA), and loading %.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65760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3886200"/>
            <a:ext cx="548640" cy="54864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26" name="Image 4" descr="/home/claude/project/icons/warni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954" y="401787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Classification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45720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status as Lightly Loaded, Normal, Near Full Load, or Overloaded.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657600"/>
            <a:ext cx="361188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2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3886200"/>
            <a:ext cx="548640" cy="54864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31" name="Image 5" descr="/home/claude/project/icons/sav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994" y="401787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457200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 full report on screen and saves it to transformer_report.txt.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Requirements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Formulae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8521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288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Power  </a:t>
            </a:r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Power Rating × Quantity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8521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146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Load  </a:t>
            </a:r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Sum of all load powers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58521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004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Load (kVA)  </a:t>
            </a:r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Total Load / (Power Factor × 1000)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58521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886200"/>
            <a:ext cx="5486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%  </a:t>
            </a:r>
            <a:pPr indent="0" marL="0">
              <a:buNone/>
            </a:pPr>
            <a:r>
              <a:rPr lang="en-US" sz="12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(Apparent Load / Rating) × 100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20840" y="14173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Status Classification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20840" y="1828800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18288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40%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6760" y="18288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Lightly Loaded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20840" y="2514600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5146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– 80%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66760" y="25146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Operating Range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20840" y="3200400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E08600"/>
          </a:solidFill>
          <a:ln/>
        </p:spPr>
      </p:sp>
      <p:sp>
        <p:nvSpPr>
          <p:cNvPr id="21" name="Text 19"/>
          <p:cNvSpPr/>
          <p:nvPr/>
        </p:nvSpPr>
        <p:spPr>
          <a:xfrm>
            <a:off x="6903720" y="32004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– 100%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66760" y="32004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Full Load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20840" y="3886200"/>
            <a:ext cx="4937760" cy="566928"/>
          </a:xfrm>
          <a:prstGeom prst="roundRect">
            <a:avLst>
              <a:gd name="adj" fmla="val 8065"/>
            </a:avLst>
          </a:prstGeom>
          <a:solidFill>
            <a:srgbClr val="C62828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388620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100%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66760" y="388620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Overloaded Warning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709160"/>
            <a:ext cx="11109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Concepts Required: Input/Output • Variables &amp; Data Types • Operators • Conditionals • Loops • Functions • Classes &amp; Objects • Vectors • File Handling • Input Validation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4A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3619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display project title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0" cy="109728"/>
          </a:xfrm>
          <a:prstGeom prst="line">
            <a:avLst/>
          </a:prstGeom>
          <a:noFill/>
          <a:ln w="19050">
            <a:solidFill>
              <a:srgbClr val="C7D3DE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212140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4A3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&amp; validate transformer details (loop until valid)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2578608"/>
            <a:ext cx="0" cy="109728"/>
          </a:xfrm>
          <a:prstGeom prst="line">
            <a:avLst/>
          </a:prstGeom>
          <a:noFill/>
          <a:ln w="19050">
            <a:solidFill>
              <a:srgbClr val="C7D3D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48640" y="268833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4A30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67004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number of connected load types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145536"/>
            <a:ext cx="0" cy="109728"/>
          </a:xfrm>
          <a:prstGeom prst="line">
            <a:avLst/>
          </a:prstGeom>
          <a:noFill/>
          <a:ln w="19050">
            <a:solidFill>
              <a:srgbClr val="C7D3DE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548640" y="3255264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4A3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55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3236976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load: enter &amp; validate name, rating, quantity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" y="3712464"/>
            <a:ext cx="0" cy="109728"/>
          </a:xfrm>
          <a:prstGeom prst="line">
            <a:avLst/>
          </a:prstGeom>
          <a:noFill/>
          <a:ln w="19050">
            <a:solidFill>
              <a:srgbClr val="C7D3D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48640" y="3822192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4A300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8221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380390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load power and accumulate total load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4279392"/>
            <a:ext cx="0" cy="109728"/>
          </a:xfrm>
          <a:prstGeom prst="line">
            <a:avLst/>
          </a:prstGeom>
          <a:noFill/>
          <a:ln w="19050">
            <a:solidFill>
              <a:srgbClr val="C7D3DE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48640" y="43891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4A300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88720" y="437083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apparent load (kVA) and loading percentage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4846320"/>
            <a:ext cx="0" cy="109728"/>
          </a:xfrm>
          <a:prstGeom prst="line">
            <a:avLst/>
          </a:prstGeom>
          <a:noFill/>
          <a:ln w="19050">
            <a:solidFill>
              <a:srgbClr val="C7D3DE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548640" y="495604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F4A30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956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88720" y="49377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load status using conditional statements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" y="5413248"/>
            <a:ext cx="0" cy="109728"/>
          </a:xfrm>
          <a:prstGeom prst="line">
            <a:avLst/>
          </a:prstGeom>
          <a:noFill/>
          <a:ln w="19050">
            <a:solidFill>
              <a:srgbClr val="C7D3D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548640" y="5522976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C62828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188720" y="550468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report and save to transformer_report.txt, then stop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109960" cy="4937760"/>
          </a:xfrm>
          <a:prstGeom prst="roundRect">
            <a:avLst>
              <a:gd name="adj" fmla="val 926"/>
            </a:avLst>
          </a:prstGeom>
          <a:solidFill>
            <a:srgbClr val="0A1A2E"/>
          </a:solidFill>
          <a:ln w="12700">
            <a:solidFill>
              <a:srgbClr val="1B496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45920"/>
            <a:ext cx="10515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REPEAT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 transformer name, rating, voltages, power factor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VALIDATE all values (reject negative / out-of-range)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UNTIL valid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 numberOfLoads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totalLoadWatts = 0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= 1 TO numberOfLoads DO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 loadName, powerRatingWatts, quantity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VALIDATE powerRatingWatts &gt;= 0 AND quantity &gt;= 0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loadPower = powerRatingWatts * quantity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totalLoadWatts += loadPower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FOR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apparentLoadKVA = totalLoadWatts / (powerFactor * 1000)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loadingPercentage = (apparentLoadKVA / transformerRatingKVA) * 100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loadingPercentage &lt; 40 THEN loadStatus = "Lightly Loaded"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loadingPercentage &lt;= 80 THEN loadStatus = "Normal Operating Range"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loadingPercentage &lt;= 100 THEN loadStatus = "Near Full Load"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loadStatus = "Overloaded Transformer Warning"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 report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 report TO "transformer_report.txt"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8E6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Flowchart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46120" y="1371600"/>
            <a:ext cx="5669280" cy="5029200"/>
          </a:xfrm>
          <a:prstGeom prst="roundRect">
            <a:avLst>
              <a:gd name="adj" fmla="val 727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101600" dist="25400" dir="5400000">
              <a:srgbClr val="9AA7B2">
                <a:alpha val="30000"/>
              </a:srgbClr>
            </a:outerShdw>
          </a:effectLst>
        </p:spPr>
      </p:sp>
      <p:pic>
        <p:nvPicPr>
          <p:cNvPr id="5" name="Image 0" descr="/home/claude/project/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508760"/>
            <a:ext cx="530352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Concepts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9344"/>
            <a:ext cx="109728" cy="5486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361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8836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/ cout for all user interaction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609344"/>
            <a:ext cx="109728" cy="5486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5361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88366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double, int throughout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14016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560320"/>
            <a:ext cx="109728" cy="5486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4871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Expressions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834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formulae for load &amp; efficiency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2414016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560320"/>
            <a:ext cx="109728" cy="5486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4871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834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for load status classification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364992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511296"/>
            <a:ext cx="109728" cy="5486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43814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7856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 (loads), do-while &amp; while (validation)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72200" y="3364992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09360" y="3511296"/>
            <a:ext cx="109728" cy="5486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343814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37856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member functions per responsibility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315968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462272"/>
            <a:ext cx="109728" cy="5486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3891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Objects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7365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and LoadItem classes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72200" y="4315968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4462272"/>
            <a:ext cx="109728" cy="5486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43891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83680" y="47365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vector&lt;LoadItem&gt; stores all connected loads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266944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5800" y="5413248"/>
            <a:ext cx="109728" cy="5486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534009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60120" y="5687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ofstream saves transformer_report.txt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72200" y="5266944"/>
            <a:ext cx="54864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5413248"/>
            <a:ext cx="109728" cy="5486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5340096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83680" y="5687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negative &amp; non-numeric values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Explanation of the Code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206240"/>
          </a:xfrm>
          <a:prstGeom prst="roundRect">
            <a:avLst>
              <a:gd name="adj" fmla="val 1304"/>
            </a:avLst>
          </a:prstGeom>
          <a:solidFill>
            <a:srgbClr val="0F234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6" name="Image 0" descr="/home/claude/projec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8233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LoadItem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4800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one connected load type.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inputLoadDetails()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Prompts for name, rating, quantity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readValidatedDouble()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Rejects negative/invalid numeric input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Getter functions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Expose data for reporting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1B4965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69164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1" name="Image 1" descr="/home/claude/project/icons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8233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373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Transformer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46520" y="2468880"/>
            <a:ext cx="50292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all calculations &amp; reporting.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setTransformerDetails() / validateTransformerDetails()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addLoadDetails()  — loops through LoadItem objects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calculateApparentLoad() / calculateLoadingPercentage()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determineLoadStatus()  — if/else if chain
</a:t>
            </a:r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F4A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displayTransformerReport() / saveReportToFile()
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of the Programme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361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Compile: g++ -std=c++11 main.cpp -o transformer_calculator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1343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programme and enter transformer details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09067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number of connected load types, then each load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6791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calculated report displayed on screen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64515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transformer_report.txt to confirm it was saved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your own screenshots on this slide before presenting. Replace each placeholder box below with the matching image.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93192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9050">
            <a:solidFill>
              <a:srgbClr val="F4A30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943100" y="2377440"/>
            <a:ext cx="731520" cy="73152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7" name="Image 0" descr="/home/claude/project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8665" y="255300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291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Screen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703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showing transformer &amp; load prompts being answered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5303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2011680"/>
            <a:ext cx="3520440" cy="393192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9050">
            <a:solidFill>
              <a:srgbClr val="F4A300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5692140" y="2377440"/>
            <a:ext cx="731520" cy="73152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3" name="Image 1" descr="/home/claude/project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705" y="255300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80560" y="3291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0" y="3703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showing the full Transformer Load Report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480560" y="5303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46720" y="2011680"/>
            <a:ext cx="3520440" cy="3931920"/>
          </a:xfrm>
          <a:prstGeom prst="roundRect">
            <a:avLst>
              <a:gd name="adj" fmla="val 1299"/>
            </a:avLst>
          </a:prstGeom>
          <a:solidFill>
            <a:srgbClr val="FFFFFF"/>
          </a:solidFill>
          <a:ln w="19050">
            <a:solidFill>
              <a:srgbClr val="F4A300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9441180" y="2377440"/>
            <a:ext cx="731520" cy="73152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9" name="Image 2" descr="/home/claude/project/icon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745" y="2553005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29600" y="32918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Output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321040" y="370332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 of the generated transformer_report.txt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229600" y="5303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SCREENSHOT HERE ]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2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E08600"/>
          </a:solidFill>
          <a:ln/>
        </p:spPr>
      </p:sp>
      <p:pic>
        <p:nvPicPr>
          <p:cNvPr id="6" name="Image 0" descr="/home/claude/projec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556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45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cin &gt;&gt; and getline()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 &gt;&gt; leaves a newline in the buffer, which could cause getline() to read an empty line. Solved by clearing the stream to the next newline after every numeric read.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2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645920"/>
            <a:ext cx="457200" cy="457200"/>
          </a:xfrm>
          <a:prstGeom prst="ellipse">
            <a:avLst/>
          </a:prstGeom>
          <a:solidFill>
            <a:srgbClr val="E08600"/>
          </a:solidFill>
          <a:ln/>
        </p:spPr>
      </p:sp>
      <p:pic>
        <p:nvPicPr>
          <p:cNvPr id="11" name="Image 1" descr="/home/claude/project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175564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645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Input Validation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46520" y="224028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had to reject bad values without forcing a full restart. Solved by validating each field individually in its own loop.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2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E08600"/>
          </a:solidFill>
          <a:ln/>
        </p:spPr>
      </p:sp>
      <p:pic>
        <p:nvPicPr>
          <p:cNvPr id="16" name="Image 2" descr="/home/claude/project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5020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840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Units in Formulae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77240" y="44348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factor as a decimal (not %) and watts-to-kVA conversion had to be exact, or the loading percentage — and its safety classification — would be wrong.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17920" y="365760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CE3E9"/>
            </a:solidFill>
            <a:prstDash val="solid"/>
          </a:ln>
          <a:effectLst>
            <a:outerShdw sx="100000" sy="100000" kx="0" ky="0" algn="bl" rotWithShape="0" blurRad="63500" dist="25400" dir="5400000">
              <a:srgbClr val="9AA7B2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3840480"/>
            <a:ext cx="457200" cy="457200"/>
          </a:xfrm>
          <a:prstGeom prst="ellipse">
            <a:avLst/>
          </a:prstGeom>
          <a:solidFill>
            <a:srgbClr val="E08600"/>
          </a:solidFill>
          <a:ln/>
        </p:spPr>
      </p:sp>
      <p:pic>
        <p:nvPicPr>
          <p:cNvPr id="21" name="Image 3" descr="/home/claude/project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3950208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8404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a 10-Member Group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46520" y="44348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algorithm, pseudocode, flowchart and code consistent across members required agreeing early on the shared class design and formulae.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057400"/>
          </a:xfrm>
          <a:prstGeom prst="roundRect">
            <a:avLst>
              <a:gd name="adj" fmla="val 2667"/>
            </a:avLst>
          </a:prstGeom>
          <a:solidFill>
            <a:srgbClr val="1B4965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6" name="Image 0" descr="/home/claude/project/icons/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8690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0992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State Matters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3774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 tracing of cin's internal state, not just the visible output, is essential when combining formatted and line-based input in C++.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508760"/>
            <a:ext cx="5440680" cy="2057400"/>
          </a:xfrm>
          <a:prstGeom prst="roundRect">
            <a:avLst>
              <a:gd name="adj" fmla="val 2667"/>
            </a:avLst>
          </a:prstGeom>
          <a:solidFill>
            <a:srgbClr val="1B4965">
              <a:alpha val="8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73736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1" name="Image 1" descr="/home/claude/project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94" y="18690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0992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Field-by-Field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46520" y="23774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validation (per field, not per record) produces a far friendlier and more robust user experience.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2057400"/>
          </a:xfrm>
          <a:prstGeom prst="roundRect">
            <a:avLst>
              <a:gd name="adj" fmla="val 2667"/>
            </a:avLst>
          </a:prstGeom>
          <a:solidFill>
            <a:srgbClr val="1B4965">
              <a:alpha val="8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16" name="Image 2" descr="/home/claude/project/icons/site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41550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99592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Before Code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77240" y="46634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algorithm, pseudocode and flowchart first kept the eventual C++ implementation focused and consistent.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794760"/>
            <a:ext cx="5440680" cy="2057400"/>
          </a:xfrm>
          <a:prstGeom prst="roundRect">
            <a:avLst>
              <a:gd name="adj" fmla="val 2667"/>
            </a:avLst>
          </a:prstGeom>
          <a:solidFill>
            <a:srgbClr val="1B4965">
              <a:alpha val="8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02336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21" name="Image 3" descr="/home/claude/project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194" y="41550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995928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Design = Team Alignment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46520" y="466344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Agreeing on the Transformer/LoadItem class design early prevented the algorithm, code and docs from drifting apart.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914400"/>
            <a:ext cx="4114800" cy="4114800"/>
          </a:xfrm>
          <a:prstGeom prst="ellipse">
            <a:avLst/>
          </a:prstGeom>
          <a:solidFill>
            <a:srgbClr val="F4A30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502920"/>
            <a:ext cx="731520" cy="731520"/>
          </a:xfrm>
          <a:prstGeom prst="ellipse">
            <a:avLst/>
          </a:prstGeom>
          <a:solidFill>
            <a:srgbClr val="F4A300"/>
          </a:solidFill>
          <a:ln/>
        </p:spPr>
      </p:sp>
      <p:pic>
        <p:nvPicPr>
          <p:cNvPr id="4" name="Image 0" descr="/home/claude/project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5" y="6784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Improvements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48640" y="2697480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1B4965">
              <a:alpha val="8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713232" y="2880360"/>
            <a:ext cx="91440" cy="7772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8072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Calculation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31546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(Output Power / Input Power) × 100 when input power data is available.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17920" y="2697480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1B4965">
              <a:alpha val="8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6382512" y="2880360"/>
            <a:ext cx="91440" cy="7772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28072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Transformer Records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29400" y="315468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several transformers in one session using a vector of objects.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4005072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1B4965">
              <a:alpha val="8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13232" y="4187952"/>
            <a:ext cx="91440" cy="7772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Record-Keeping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60120" y="446227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timestamped reports instead of overwriting the file each run.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217920" y="4005072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1B4965">
              <a:alpha val="8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382512" y="4187952"/>
            <a:ext cx="91440" cy="7772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21" name="Text 18"/>
          <p:cNvSpPr/>
          <p:nvPr/>
        </p:nvSpPr>
        <p:spPr>
          <a:xfrm>
            <a:off x="662940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Graphical / Web Interface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629400" y="4462272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beyond the console for easier use by non-programmers.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5312664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1B4965">
              <a:alpha val="8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13232" y="5495544"/>
            <a:ext cx="91440" cy="7772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5422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(CSV / PDF)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60120" y="576986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 in formats easier to share or import into spreadsheets.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217920" y="5312664"/>
            <a:ext cx="5440680" cy="1143000"/>
          </a:xfrm>
          <a:prstGeom prst="roundRect">
            <a:avLst>
              <a:gd name="adj" fmla="val 4800"/>
            </a:avLst>
          </a:prstGeom>
          <a:solidFill>
            <a:srgbClr val="1B4965">
              <a:alpha val="8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6382512" y="5495544"/>
            <a:ext cx="91440" cy="777240"/>
          </a:xfrm>
          <a:prstGeom prst="roundRect">
            <a:avLst/>
          </a:prstGeom>
          <a:solidFill>
            <a:srgbClr val="F4A300"/>
          </a:solidFill>
          <a:ln/>
        </p:spPr>
      </p:sp>
      <p:sp>
        <p:nvSpPr>
          <p:cNvPr id="29" name="Text 26"/>
          <p:cNvSpPr/>
          <p:nvPr/>
        </p:nvSpPr>
        <p:spPr>
          <a:xfrm>
            <a:off x="6629400" y="5422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Thresholds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6629400" y="5769864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the 40% / 80% / 100% classification bands to be adjusted.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Transformer Load and Efficiency Calculator System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2026-07-16T00:49:31Z</dcterms:created>
  <dcterms:modified xsi:type="dcterms:W3CDTF">2026-07-16T00:49:31Z</dcterms:modified>
</cp:coreProperties>
</file>